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13"/>
  </p:notesMasterIdLst>
  <p:sldIdLst>
    <p:sldId id="256" r:id="rId2"/>
    <p:sldId id="275" r:id="rId3"/>
    <p:sldId id="269" r:id="rId4"/>
    <p:sldId id="257" r:id="rId5"/>
    <p:sldId id="274" r:id="rId6"/>
    <p:sldId id="277" r:id="rId7"/>
    <p:sldId id="278" r:id="rId8"/>
    <p:sldId id="276" r:id="rId9"/>
    <p:sldId id="279" r:id="rId10"/>
    <p:sldId id="280" r:id="rId11"/>
    <p:sldId id="266" r:id="rId1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521415D9-36F7-43E2-AB2F-B90AF26B5E84}">
      <p14:sectionLst xmlns:p14="http://schemas.microsoft.com/office/powerpoint/2010/main">
        <p14:section name="Default Section" id="{C393C824-1AD9-4F17-A7A3-D98B60969B72}">
          <p14:sldIdLst>
            <p14:sldId id="256"/>
            <p14:sldId id="275"/>
            <p14:sldId id="269"/>
          </p14:sldIdLst>
        </p14:section>
        <p14:section name="Untitled Section" id="{FE725B59-2ADA-40B2-A81C-EA71B3F12BA4}">
          <p14:sldIdLst>
            <p14:sldId id="257"/>
            <p14:sldId id="274"/>
            <p14:sldId id="277"/>
            <p14:sldId id="278"/>
            <p14:sldId id="276"/>
            <p14:sldId id="279"/>
            <p14:sldId id="280"/>
            <p14:sldId id="26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7690726-49DA-4552-BDEB-330DD8EA8BD9}" styleName="Table_0">
    <a:wholeTbl>
      <a:tcTxStyle>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50" autoAdjust="0"/>
    <p:restoredTop sz="94660"/>
  </p:normalViewPr>
  <p:slideViewPr>
    <p:cSldViewPr snapToGrid="0">
      <p:cViewPr>
        <p:scale>
          <a:sx n="76" d="100"/>
          <a:sy n="76" d="100"/>
        </p:scale>
        <p:origin x="-294" y="1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78022142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t>‹#›</a:t>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r>
              <a:rPr lang="en-US" sz="2400" dirty="0"/>
              <a:t>AI-Based tool for preliminary diagnosis of Dermatological 					manifestations.</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a:spcBef>
                <a:spcPts val="0"/>
              </a:spcBef>
            </a:pPr>
            <a:r>
              <a:rPr lang="en-GB" dirty="0">
                <a:latin typeface="Cambria" panose="02040503050406030204" pitchFamily="18" charset="0"/>
                <a:ea typeface="Cambria" panose="02040503050406030204" pitchFamily="18" charset="0"/>
              </a:rPr>
              <a:t>Team Number: </a:t>
            </a:r>
            <a:r>
              <a:rPr lang="en-GB" dirty="0">
                <a:latin typeface="Verdana" panose="020B0604030504040204" pitchFamily="34" charset="0"/>
                <a:ea typeface="Verdana" panose="020B0604030504040204" pitchFamily="34" charset="0"/>
              </a:rPr>
              <a:t> </a:t>
            </a:r>
            <a:r>
              <a:rPr lang="en-IN" sz="1600" dirty="0">
                <a:latin typeface="Verdana" panose="020B0604030504040204" pitchFamily="34" charset="0"/>
                <a:ea typeface="Verdana" panose="020B0604030504040204" pitchFamily="34" charset="0"/>
              </a:rPr>
              <a:t>ISE</a:t>
            </a:r>
            <a:r>
              <a:rPr lang="en-IN" sz="1600" dirty="0"/>
              <a:t>_40</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5181599" y="2513340"/>
            <a:ext cx="6812896"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Under the Supervision of,</a:t>
            </a:r>
            <a:endParaRPr sz="1800" dirty="0">
              <a:latin typeface="Cambria" panose="02040503050406030204" pitchFamily="18" charset="0"/>
              <a:ea typeface="Cambria" panose="02040503050406030204" pitchFamily="18" charset="0"/>
            </a:endParaRPr>
          </a:p>
          <a:p>
            <a:pPr lvl="0" algn="ctr">
              <a:spcBef>
                <a:spcPts val="340"/>
              </a:spcBef>
              <a:buClr>
                <a:srgbClr val="17365D"/>
              </a:buClr>
              <a:buSzPts val="1700"/>
            </a:pPr>
            <a:r>
              <a:rPr lang="en-IN" sz="1600" b="1" dirty="0">
                <a:solidFill>
                  <a:schemeClr val="bg2">
                    <a:lumMod val="75000"/>
                  </a:schemeClr>
                </a:solidFill>
              </a:rPr>
              <a:t>          Ms. Babitha S</a:t>
            </a:r>
            <a:endParaRPr lang="en-IN" b="1" dirty="0">
              <a:solidFill>
                <a:schemeClr val="bg2">
                  <a:lumMod val="75000"/>
                </a:schemeClr>
              </a:solidFill>
              <a:latin typeface="Cambria" panose="02040503050406030204" pitchFamily="18" charset="0"/>
              <a:ea typeface="Cambria" panose="02040503050406030204" pitchFamily="18" charset="0"/>
            </a:endParaRPr>
          </a:p>
          <a:p>
            <a:pPr lvl="0" algn="ctr">
              <a:spcBef>
                <a:spcPts val="340"/>
              </a:spcBef>
              <a:buClr>
                <a:srgbClr val="17365D"/>
              </a:buClr>
              <a:buSzPts val="1700"/>
            </a:pPr>
            <a:r>
              <a:rPr lang="en-IN"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Associate Professor</a:t>
            </a:r>
            <a:endParaRPr lang="en-IN"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School of Computer Science and Engineering</a:t>
            </a:r>
            <a:endParaRPr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89" name="Google Shape;89;p13"/>
          <p:cNvGraphicFramePr/>
          <p:nvPr/>
        </p:nvGraphicFramePr>
        <p:xfrm>
          <a:off x="598881" y="2499989"/>
          <a:ext cx="5373188" cy="2673841"/>
        </p:xfrm>
        <a:graphic>
          <a:graphicData uri="http://schemas.openxmlformats.org/drawingml/2006/table">
            <a:tbl>
              <a:tblPr firstRow="1" bandRow="1">
                <a:noFill/>
                <a:tableStyleId>{57690726-49DA-4552-BDEB-330DD8EA8BD9}</a:tableStyleId>
              </a:tblPr>
              <a:tblGrid>
                <a:gridCol w="1993107"/>
                <a:gridCol w="3380081"/>
              </a:tblGrid>
              <a:tr h="407156">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453337">
                <a:tc>
                  <a:txBody>
                    <a:bodyPr/>
                    <a:lstStyle/>
                    <a:p>
                      <a:pPr marL="0" marR="0" lvl="0" indent="0" algn="ctr" rtl="0">
                        <a:spcBef>
                          <a:spcPts val="0"/>
                        </a:spcBef>
                        <a:spcAft>
                          <a:spcPts val="0"/>
                        </a:spcAft>
                        <a:buFont typeface="+mj-lt"/>
                        <a:buNone/>
                      </a:pPr>
                      <a:r>
                        <a:rPr lang="en-US" sz="1800" u="none" strike="noStrike" cap="none" dirty="0"/>
                        <a:t>20221ISE0162</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Sindhu L Y</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453337">
                <a:tc>
                  <a:txBody>
                    <a:bodyPr/>
                    <a:lstStyle/>
                    <a:p>
                      <a:pPr marL="0" marR="0" lvl="0" indent="0" algn="ctr" rtl="0">
                        <a:spcBef>
                          <a:spcPts val="0"/>
                        </a:spcBef>
                        <a:spcAft>
                          <a:spcPts val="0"/>
                        </a:spcAft>
                        <a:buNone/>
                      </a:pPr>
                      <a:r>
                        <a:rPr lang="en-US" sz="1800" u="none" strike="noStrike" cap="none" dirty="0"/>
                        <a:t>20221ISE0171</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Anusha M S</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453337">
                <a:tc>
                  <a:txBody>
                    <a:bodyPr/>
                    <a:lstStyle/>
                    <a:p>
                      <a:pPr marL="0" marR="0" lvl="0" indent="0" algn="ctr" rtl="0">
                        <a:spcBef>
                          <a:spcPts val="0"/>
                        </a:spcBef>
                        <a:spcAft>
                          <a:spcPts val="0"/>
                        </a:spcAft>
                        <a:buNone/>
                      </a:pPr>
                      <a:r>
                        <a:rPr lang="en-US" sz="1800" u="none" strike="noStrike" cap="none" dirty="0"/>
                        <a:t>20231ISE3001</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Kumar G K</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453337">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453337">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panose="020B0604020202020204"/>
              <a:buNone/>
            </a:pPr>
            <a:r>
              <a:rPr lang="en-GB" sz="18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panose="020B0604020202020204"/>
              <a:buNone/>
            </a:pPr>
            <a:r>
              <a:rPr lang="en-GB" sz="18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Review-2</a:t>
            </a:r>
            <a:endParaRPr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IN" sz="1800" b="1" i="0" u="none" strike="noStrike" cap="none" dirty="0">
                <a:solidFill>
                  <a:schemeClr val="bg2">
                    <a:lumMod val="50000"/>
                  </a:schemeClr>
                </a:solidFill>
                <a:latin typeface="Cambria" panose="02040503050406030204" pitchFamily="18" charset="0"/>
                <a:ea typeface="Cambria" panose="02040503050406030204" pitchFamily="18" charset="0"/>
                <a:cs typeface="Verdana" panose="020B0604030504040204"/>
                <a:sym typeface="Verdana" panose="020B0604030504040204"/>
              </a:rPr>
              <a:t>C</a:t>
            </a:r>
            <a:r>
              <a:rPr lang="en-IN" sz="1800" b="1" dirty="0">
                <a:solidFill>
                  <a:schemeClr val="bg2">
                    <a:lumMod val="50000"/>
                  </a:schemeClr>
                </a:solidFill>
              </a:rPr>
              <a:t>apstone Project </a:t>
            </a:r>
            <a:endParaRPr lang="en-US" sz="1800" b="1" i="0" u="none" strike="noStrike" cap="none" dirty="0">
              <a:solidFill>
                <a:schemeClr val="bg2">
                  <a:lumMod val="50000"/>
                </a:schemeClr>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 </a:t>
            </a:r>
            <a:r>
              <a:rPr lang="en-IN" sz="1800" b="1" dirty="0"/>
              <a:t>Dr. Zafar Ali Khan N</a:t>
            </a:r>
            <a:endParaRPr lang="en-US" sz="1800" b="1" dirty="0">
              <a:solidFill>
                <a:srgbClr val="FF0000"/>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Project Coordinator: </a:t>
            </a:r>
            <a:r>
              <a:rPr lang="en-IN" sz="1800" b="1" dirty="0" err="1"/>
              <a:t>Ms.Suma</a:t>
            </a:r>
            <a:r>
              <a:rPr lang="en-IN" sz="1800" b="1" dirty="0"/>
              <a:t> N G</a:t>
            </a:r>
            <a:endParaRPr lang="en-US" sz="1800" b="1" dirty="0">
              <a:solidFill>
                <a:srgbClr val="FF0000"/>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96;p14"/>
          <p:cNvSpPr txBox="1">
            <a:spLocks noGrp="1"/>
          </p:cNvSpPr>
          <p:nvPr>
            <p:ph type="title"/>
          </p:nvPr>
        </p:nvSpPr>
        <p:spPr>
          <a:xfrm>
            <a:off x="812800" y="274638"/>
            <a:ext cx="10668000" cy="48736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5" name="Google Shape;96;p14"/>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ctr" anchorCtr="0">
            <a:noAutofit/>
          </a:bodyPr>
          <a:lstStyle/>
          <a:p>
            <a:pPr marL="495300" indent="-342900" algn="just">
              <a:lnSpc>
                <a:spcPct val="200000"/>
              </a:lnSpc>
              <a:spcBef>
                <a:spcPts val="0"/>
              </a:spcBef>
              <a:buFont typeface="Arial" panose="020B0604020202020204" pitchFamily="34" charset="0"/>
              <a:buChar char="•"/>
            </a:pPr>
            <a:r>
              <a:rPr lang="en-US" sz="1800" dirty="0" smtClean="0">
                <a:latin typeface="Cambria" panose="02040503050406030204" pitchFamily="18" charset="0"/>
                <a:ea typeface="Cambria" panose="02040503050406030204" pitchFamily="18" charset="0"/>
              </a:rPr>
              <a:t>Abstract</a:t>
            </a:r>
            <a:endParaRPr lang="en-US" sz="18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sz="1800" dirty="0" smtClean="0">
                <a:latin typeface="Cambria" panose="02040503050406030204" pitchFamily="18" charset="0"/>
                <a:ea typeface="Cambria" panose="02040503050406030204" pitchFamily="18" charset="0"/>
              </a:rPr>
              <a:t>Literature Survey</a:t>
            </a:r>
            <a:endParaRPr lang="en-US" sz="18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sz="1800" dirty="0" smtClean="0">
                <a:latin typeface="Cambria" panose="02040503050406030204" pitchFamily="18" charset="0"/>
                <a:ea typeface="Cambria" panose="02040503050406030204" pitchFamily="18" charset="0"/>
              </a:rPr>
              <a:t>Objectives</a:t>
            </a:r>
          </a:p>
          <a:p>
            <a:pPr marL="495300" lvl="0" indent="-342900" algn="just">
              <a:lnSpc>
                <a:spcPct val="200000"/>
              </a:lnSpc>
              <a:spcBef>
                <a:spcPts val="0"/>
              </a:spcBef>
              <a:buFont typeface="Arial" panose="020B0604020202020204" pitchFamily="34" charset="0"/>
              <a:buChar char="•"/>
            </a:pPr>
            <a:r>
              <a:rPr lang="en-US" sz="1800" dirty="0" smtClean="0">
                <a:latin typeface="Cambria" panose="02040503050406030204" pitchFamily="18" charset="0"/>
                <a:ea typeface="Cambria" panose="02040503050406030204" pitchFamily="18" charset="0"/>
              </a:rPr>
              <a:t>Existing Methods and Drawbacks</a:t>
            </a:r>
            <a:endParaRPr lang="en-US" sz="1800" dirty="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US" sz="1800" dirty="0" smtClean="0">
                <a:latin typeface="Cambria" panose="02040503050406030204" pitchFamily="18" charset="0"/>
                <a:ea typeface="Cambria" panose="02040503050406030204" pitchFamily="18" charset="0"/>
              </a:rPr>
              <a:t>Proposed Method and Feasibility Study</a:t>
            </a:r>
            <a:endParaRPr lang="en-US" sz="18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sz="1800" dirty="0" smtClean="0">
                <a:latin typeface="Cambria" panose="02040503050406030204" pitchFamily="18" charset="0"/>
                <a:ea typeface="Cambria" panose="02040503050406030204" pitchFamily="18" charset="0"/>
              </a:rPr>
              <a:t>Architecture Diagram</a:t>
            </a:r>
            <a:endParaRPr lang="en-US" sz="18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1800" dirty="0" smtClean="0">
                <a:latin typeface="Cambria" panose="02040503050406030204" pitchFamily="18" charset="0"/>
                <a:ea typeface="Cambria" panose="02040503050406030204" pitchFamily="18" charset="0"/>
              </a:rPr>
              <a:t>Modules</a:t>
            </a:r>
            <a:endParaRPr lang="en-US" sz="18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1800" dirty="0">
                <a:latin typeface="Cambria" panose="02040503050406030204" pitchFamily="18" charset="0"/>
                <a:ea typeface="Cambria" panose="02040503050406030204" pitchFamily="18" charset="0"/>
              </a:rPr>
              <a:t>References</a:t>
            </a:r>
          </a:p>
          <a:p>
            <a:pPr marL="0" lvl="0" indent="0" algn="l" rtl="0">
              <a:spcBef>
                <a:spcPts val="0"/>
              </a:spcBef>
              <a:spcAft>
                <a:spcPts val="0"/>
              </a:spcAft>
              <a:buClr>
                <a:srgbClr val="17365D"/>
              </a:buClr>
              <a:buSzPts val="2800"/>
              <a:buFont typeface="Verdana" panose="020B0604030504040204"/>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73760" y="274499"/>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Problem Statement Number  :  </a:t>
            </a:r>
            <a:r>
              <a:rPr lang="en-US" dirty="0">
                <a:latin typeface="Cambria" panose="02040503050406030204" pitchFamily="18" charset="0"/>
                <a:ea typeface="Cambria" panose="02040503050406030204" pitchFamily="18" charset="0"/>
              </a:rPr>
              <a:t>PSCS_49</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026160"/>
            <a:ext cx="10668000" cy="5069841"/>
          </a:xfrm>
          <a:prstGeom prst="rect">
            <a:avLst/>
          </a:prstGeom>
          <a:noFill/>
          <a:ln>
            <a:noFill/>
          </a:ln>
        </p:spPr>
        <p:txBody>
          <a:bodyPr spcFirstLastPara="1" wrap="square" lIns="91425" tIns="45700" rIns="91425" bIns="45700" anchor="t" anchorCtr="0">
            <a:normAutofit fontScale="62500" lnSpcReduction="20000"/>
          </a:bodyPr>
          <a:lstStyle/>
          <a:p>
            <a:pPr marL="342900" lvl="0" indent="-190500" algn="just">
              <a:spcBef>
                <a:spcPts val="0"/>
              </a:spcBef>
              <a:buNone/>
            </a:pPr>
            <a:r>
              <a:rPr lang="en-US" sz="2900" b="1" dirty="0">
                <a:solidFill>
                  <a:schemeClr val="bg2">
                    <a:lumMod val="75000"/>
                  </a:schemeClr>
                </a:solidFill>
                <a:latin typeface="Cambria" panose="02040503050406030204" pitchFamily="18" charset="0"/>
                <a:ea typeface="Cambria" panose="02040503050406030204" pitchFamily="18" charset="0"/>
              </a:rPr>
              <a:t>Organization</a:t>
            </a:r>
            <a:r>
              <a:rPr lang="en-US" sz="2900" dirty="0">
                <a:latin typeface="Cambria" panose="02040503050406030204" pitchFamily="18" charset="0"/>
                <a:ea typeface="Cambria" panose="02040503050406030204" pitchFamily="18" charset="0"/>
              </a:rPr>
              <a:t>: </a:t>
            </a:r>
            <a:r>
              <a:rPr lang="en-IN" sz="2900" dirty="0">
                <a:solidFill>
                  <a:schemeClr val="bg2">
                    <a:lumMod val="60000"/>
                    <a:lumOff val="40000"/>
                  </a:schemeClr>
                </a:solidFill>
              </a:rPr>
              <a:t>Ministry of AYUSH</a:t>
            </a:r>
            <a:endParaRPr lang="en-US" sz="2900" dirty="0">
              <a:solidFill>
                <a:schemeClr val="bg2">
                  <a:lumMod val="60000"/>
                  <a:lumOff val="40000"/>
                </a:schemeClr>
              </a:solidFill>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sz="2900" b="1" dirty="0">
                <a:solidFill>
                  <a:schemeClr val="bg2">
                    <a:lumMod val="75000"/>
                  </a:schemeClr>
                </a:solidFill>
                <a:latin typeface="Cambria" panose="02040503050406030204" pitchFamily="18" charset="0"/>
                <a:ea typeface="Cambria" panose="02040503050406030204" pitchFamily="18" charset="0"/>
              </a:rPr>
              <a:t>Category </a:t>
            </a:r>
            <a:r>
              <a:rPr lang="en-US" sz="2900" b="1" dirty="0">
                <a:latin typeface="Cambria" panose="02040503050406030204" pitchFamily="18" charset="0"/>
                <a:ea typeface="Cambria" panose="02040503050406030204" pitchFamily="18" charset="0"/>
              </a:rPr>
              <a:t> </a:t>
            </a:r>
            <a:r>
              <a:rPr lang="en-US" sz="2900" dirty="0">
                <a:solidFill>
                  <a:schemeClr val="bg2">
                    <a:lumMod val="60000"/>
                    <a:lumOff val="40000"/>
                  </a:schemeClr>
                </a:solidFill>
                <a:latin typeface="Cambria" panose="02040503050406030204" pitchFamily="18" charset="0"/>
                <a:ea typeface="Cambria" panose="02040503050406030204" pitchFamily="18" charset="0"/>
              </a:rPr>
              <a:t>:  </a:t>
            </a:r>
            <a:r>
              <a:rPr lang="en-US" sz="2900" b="1" dirty="0">
                <a:solidFill>
                  <a:schemeClr val="bg2">
                    <a:lumMod val="60000"/>
                    <a:lumOff val="40000"/>
                  </a:schemeClr>
                </a:solidFill>
                <a:latin typeface="Cambria" panose="02040503050406030204" pitchFamily="18" charset="0"/>
                <a:ea typeface="Cambria" panose="02040503050406030204" pitchFamily="18" charset="0"/>
              </a:rPr>
              <a:t>Software</a:t>
            </a:r>
          </a:p>
          <a:p>
            <a:pPr marL="342900" indent="-190500" algn="just">
              <a:lnSpc>
                <a:spcPct val="200000"/>
              </a:lnSpc>
              <a:spcBef>
                <a:spcPts val="0"/>
              </a:spcBef>
              <a:buNone/>
            </a:pPr>
            <a:r>
              <a:rPr lang="en-US" sz="2800" b="1" dirty="0" smtClean="0">
                <a:latin typeface="Cambria" panose="02040503050406030204" pitchFamily="18" charset="0"/>
                <a:ea typeface="Cambria" panose="02040503050406030204" pitchFamily="18" charset="0"/>
              </a:rPr>
              <a:t>Abstract </a:t>
            </a:r>
            <a:r>
              <a:rPr lang="en-US" sz="2600" b="1" dirty="0" smtClean="0">
                <a:solidFill>
                  <a:schemeClr val="bg2">
                    <a:lumMod val="75000"/>
                  </a:schemeClr>
                </a:solidFill>
                <a:latin typeface="Cambria" panose="02040503050406030204" pitchFamily="18" charset="0"/>
                <a:ea typeface="Cambria" panose="02040503050406030204" pitchFamily="18" charset="0"/>
              </a:rPr>
              <a:t>: </a:t>
            </a:r>
          </a:p>
          <a:p>
            <a:pPr marL="342900" indent="-190500" algn="just">
              <a:lnSpc>
                <a:spcPct val="200000"/>
              </a:lnSpc>
              <a:spcBef>
                <a:spcPts val="0"/>
              </a:spcBef>
              <a:buNone/>
            </a:pPr>
            <a:r>
              <a:rPr lang="en-US" sz="2900" dirty="0" smtClean="0">
                <a:latin typeface="Verdana" panose="020B0604030504040204" pitchFamily="34" charset="0"/>
                <a:ea typeface="Verdana" panose="020B0604030504040204" pitchFamily="34" charset="0"/>
              </a:rPr>
              <a:t>  </a:t>
            </a:r>
            <a:r>
              <a:rPr lang="en-US" dirty="0"/>
              <a:t>Artificial Intelligence (AI) has significantly advanced the field of medical imaging, particularly in dermatology. Skin conditions often present diagnostic challenges due to their wide variability and similarity across different diseases. Limited access to dermatologists, especially in low-resource regions, further complicates timely diagnosis. This paper reviews state-of-the-art AI-based diagnostic tools in dermatology, including convolutional neural networks (CNNs), foundation models, and multimodal vision-language systems. The study also highlights challenges such as dataset bias, regulatory hurdles, and </a:t>
            </a:r>
            <a:r>
              <a:rPr lang="en-US" dirty="0" err="1"/>
              <a:t>explainability</a:t>
            </a:r>
            <a:r>
              <a:rPr lang="en-US" dirty="0"/>
              <a:t>. Finally, a framework for AI-based preliminary diagnosis is proposed, emphasizing integration with </a:t>
            </a:r>
            <a:r>
              <a:rPr lang="en-US" dirty="0" err="1" smtClean="0"/>
              <a:t>tele</a:t>
            </a:r>
            <a:r>
              <a:rPr lang="en-US" dirty="0" smtClean="0"/>
              <a:t>-dermatology </a:t>
            </a:r>
            <a:r>
              <a:rPr lang="en-US" dirty="0"/>
              <a:t>and mobile platforms to improve accessibility and early detection.</a:t>
            </a:r>
          </a:p>
          <a:p>
            <a:pPr marL="342900" indent="-190500" algn="just">
              <a:lnSpc>
                <a:spcPct val="200000"/>
              </a:lnSpc>
              <a:spcBef>
                <a:spcPts val="0"/>
              </a:spcBef>
              <a:buNone/>
            </a:pPr>
            <a:endParaRPr lang="en-US" b="1" dirty="0">
              <a:solidFill>
                <a:schemeClr val="bg2">
                  <a:lumMod val="75000"/>
                </a:schemeClr>
              </a:solidFill>
              <a:latin typeface="Quicksand" panose="00000500000000000000" pitchFamily="2"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104776"/>
            <a:ext cx="10668000" cy="4953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3" name="Rectangle 2"/>
          <p:cNvSpPr>
            <a:spLocks noChangeArrowheads="1"/>
          </p:cNvSpPr>
          <p:nvPr/>
        </p:nvSpPr>
        <p:spPr bwMode="auto">
          <a:xfrm>
            <a:off x="713043" y="1174575"/>
            <a:ext cx="10387985"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eaLnBrk="0" fontAlgn="base" hangingPunct="0">
              <a:spcBef>
                <a:spcPct val="0"/>
              </a:spcBef>
              <a:spcAft>
                <a:spcPct val="0"/>
              </a:spcAft>
              <a:buClrTx/>
            </a:pPr>
            <a:r>
              <a:rPr lang="en-US" sz="1800" b="1" dirty="0" smtClean="0">
                <a:latin typeface="Verdana" pitchFamily="34" charset="0"/>
                <a:ea typeface="Verdana" pitchFamily="34" charset="0"/>
                <a:cs typeface="Calibri" pitchFamily="34" charset="0"/>
              </a:rPr>
              <a:t>Literature Survey:</a:t>
            </a:r>
            <a:endParaRPr kumimoji="0" lang="en-US" altLang="en-US" sz="1800" b="1" i="0" u="none" strike="noStrike" cap="none" normalizeH="0" baseline="0" dirty="0" smtClean="0">
              <a:ln>
                <a:noFill/>
              </a:ln>
              <a:solidFill>
                <a:schemeClr val="tx1"/>
              </a:solidFill>
              <a:effectLst/>
              <a:latin typeface="Verdana" pitchFamily="34" charset="0"/>
              <a:ea typeface="Verdana" pitchFamily="34" charset="0"/>
              <a:cs typeface="Calibri" pitchFamily="34" charset="0"/>
            </a:endParaRPr>
          </a:p>
          <a:p>
            <a:pPr marL="342900" indent="-342900" eaLnBrk="0" fontAlgn="base" hangingPunct="0">
              <a:spcBef>
                <a:spcPct val="0"/>
              </a:spcBef>
              <a:spcAft>
                <a:spcPct val="0"/>
              </a:spcAft>
              <a:buClrTx/>
              <a:buFont typeface="Arial" panose="020B0604020202020204" pitchFamily="34" charset="0"/>
              <a:buChar char="•"/>
            </a:pPr>
            <a:r>
              <a:rPr lang="en-US" sz="1800" dirty="0">
                <a:latin typeface="Times New Roman" pitchFamily="18" charset="0"/>
                <a:cs typeface="Times New Roman" pitchFamily="18" charset="0"/>
              </a:rPr>
              <a:t>Several studies have applied AI in dermatology:</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Esteva</a:t>
            </a:r>
            <a:r>
              <a:rPr lang="en-US" sz="1800" dirty="0">
                <a:latin typeface="Times New Roman" pitchFamily="18" charset="0"/>
                <a:cs typeface="Times New Roman" pitchFamily="18" charset="0"/>
              </a:rPr>
              <a:t> et al. (2017) achieved dermatologist-level accuracy in skin cancer classification using CNNs.</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DermX</a:t>
            </a:r>
            <a:r>
              <a:rPr lang="en-US" sz="1800" dirty="0">
                <a:latin typeface="Times New Roman" pitchFamily="18" charset="0"/>
                <a:cs typeface="Times New Roman" pitchFamily="18" charset="0"/>
              </a:rPr>
              <a:t> and </a:t>
            </a:r>
            <a:r>
              <a:rPr lang="en-US" sz="1800" dirty="0" err="1">
                <a:latin typeface="Times New Roman" pitchFamily="18" charset="0"/>
                <a:cs typeface="Times New Roman" pitchFamily="18" charset="0"/>
              </a:rPr>
              <a:t>DermX</a:t>
            </a:r>
            <a:r>
              <a:rPr lang="en-US" sz="1800" dirty="0">
                <a:latin typeface="Times New Roman" pitchFamily="18" charset="0"/>
                <a:cs typeface="Times New Roman" pitchFamily="18" charset="0"/>
              </a:rPr>
              <a:t>+ (2022) provided explainable CNN frameworks, reaching F1 scores close to dermatologists.</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DermNIO</a:t>
            </a:r>
            <a:r>
              <a:rPr lang="en-US" sz="1800" dirty="0">
                <a:latin typeface="Times New Roman" pitchFamily="18" charset="0"/>
                <a:cs typeface="Times New Roman" pitchFamily="18" charset="0"/>
              </a:rPr>
              <a:t> (2025) foundation model trained on 432,776 images achieved 95.79% accuracy, outperforming clinicians.</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 VL-</a:t>
            </a:r>
            <a:r>
              <a:rPr lang="en-US" sz="1800" dirty="0" err="1">
                <a:latin typeface="Times New Roman" pitchFamily="18" charset="0"/>
                <a:cs typeface="Times New Roman" pitchFamily="18" charset="0"/>
              </a:rPr>
              <a:t>MedGuide</a:t>
            </a:r>
            <a:r>
              <a:rPr lang="en-US" sz="1800" dirty="0">
                <a:latin typeface="Times New Roman" pitchFamily="18" charset="0"/>
                <a:cs typeface="Times New Roman" pitchFamily="18" charset="0"/>
              </a:rPr>
              <a:t> (2025) combined vision-language learning, offering rationalized outputs and </a:t>
            </a:r>
            <a:r>
              <a:rPr lang="en-US" sz="1800" dirty="0" err="1">
                <a:latin typeface="Times New Roman" pitchFamily="18" charset="0"/>
                <a:cs typeface="Times New Roman" pitchFamily="18" charset="0"/>
              </a:rPr>
              <a:t>explainability</a:t>
            </a:r>
            <a:r>
              <a:rPr lang="en-US" sz="1800" dirty="0">
                <a:latin typeface="Times New Roman" pitchFamily="18" charset="0"/>
                <a:cs typeface="Times New Roman" pitchFamily="18" charset="0"/>
              </a:rPr>
              <a:t>.</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Tibot</a:t>
            </a:r>
            <a:r>
              <a:rPr lang="en-US" sz="1800" dirty="0">
                <a:latin typeface="Times New Roman" pitchFamily="18" charset="0"/>
                <a:cs typeface="Times New Roman" pitchFamily="18" charset="0"/>
              </a:rPr>
              <a:t> AI Tool (India, 2020) showed ~85% top-3 accuracy across common </a:t>
            </a:r>
            <a:r>
              <a:rPr lang="en-US" sz="1800" dirty="0" err="1">
                <a:latin typeface="Times New Roman" pitchFamily="18" charset="0"/>
                <a:cs typeface="Times New Roman" pitchFamily="18" charset="0"/>
              </a:rPr>
              <a:t>dermatoses</a:t>
            </a:r>
            <a:r>
              <a:rPr lang="en-US" sz="1800" dirty="0">
                <a:latin typeface="Times New Roman" pitchFamily="18" charset="0"/>
                <a:cs typeface="Times New Roman" pitchFamily="18" charset="0"/>
              </a:rPr>
              <a:t>.</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Teledermatology</a:t>
            </a:r>
            <a:r>
              <a:rPr lang="en-US" sz="1800" dirty="0">
                <a:latin typeface="Times New Roman" pitchFamily="18" charset="0"/>
                <a:cs typeface="Times New Roman" pitchFamily="18" charset="0"/>
              </a:rPr>
              <a:t> studies demonstrated AI assistance improved agreement between primary care providers and dermatologists</a:t>
            </a:r>
            <a:r>
              <a:rPr lang="en-US" sz="1800" dirty="0" smtClean="0">
                <a:latin typeface="Times New Roman" pitchFamily="18" charset="0"/>
                <a:cs typeface="Times New Roman" pitchFamily="18" charset="0"/>
              </a:rPr>
              <a:t>.</a:t>
            </a:r>
          </a:p>
          <a:p>
            <a:pPr marL="342900" indent="-342900" eaLnBrk="0" fontAlgn="base" hangingPunct="0">
              <a:spcBef>
                <a:spcPct val="0"/>
              </a:spcBef>
              <a:spcAft>
                <a:spcPct val="0"/>
              </a:spcAft>
              <a:buClrTx/>
              <a:buFont typeface="Arial" panose="020B0604020202020204" pitchFamily="34" charset="0"/>
              <a:buChar char="•"/>
            </a:pPr>
            <a:r>
              <a:rPr lang="en-US" sz="1800" dirty="0" smtClean="0">
                <a:latin typeface="Times New Roman" pitchFamily="18" charset="0"/>
                <a:cs typeface="Times New Roman" pitchFamily="18" charset="0"/>
              </a:rPr>
              <a:t>While </a:t>
            </a:r>
            <a:r>
              <a:rPr lang="en-US" sz="1800" dirty="0">
                <a:latin typeface="Times New Roman" pitchFamily="18" charset="0"/>
                <a:cs typeface="Times New Roman" pitchFamily="18" charset="0"/>
              </a:rPr>
              <a:t>promising, these methods face challenges of dataset bias, lack of external validation, and limited representation of darker skin tones.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pPr>
            <a:endParaRPr kumimoji="0" lang="en-US" altLang="en-US" sz="200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Content </a:t>
            </a:r>
            <a:endParaRPr dirty="0">
              <a:latin typeface="Cambria" panose="02040503050406030204" pitchFamily="18" charset="0"/>
              <a:ea typeface="Cambria" panose="02040503050406030204" pitchFamily="18" charset="0"/>
            </a:endParaRPr>
          </a:p>
        </p:txBody>
      </p:sp>
      <p:sp>
        <p:nvSpPr>
          <p:cNvPr id="3" name="Rectangle 2"/>
          <p:cNvSpPr>
            <a:spLocks noChangeArrowheads="1"/>
          </p:cNvSpPr>
          <p:nvPr/>
        </p:nvSpPr>
        <p:spPr bwMode="auto">
          <a:xfrm>
            <a:off x="447151" y="1758120"/>
            <a:ext cx="11297697"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eaLnBrk="0" fontAlgn="base" hangingPunct="0">
              <a:spcBef>
                <a:spcPct val="0"/>
              </a:spcBef>
              <a:spcAft>
                <a:spcPct val="0"/>
              </a:spcAft>
              <a:buClrTx/>
            </a:pPr>
            <a:r>
              <a:rPr lang="en-US" sz="1800" b="1" dirty="0" smtClean="0">
                <a:latin typeface="Verdana" pitchFamily="34" charset="0"/>
                <a:ea typeface="Verdana" pitchFamily="34" charset="0"/>
                <a:cs typeface="Calibri" pitchFamily="34" charset="0"/>
              </a:rPr>
              <a:t>Objectives :</a:t>
            </a:r>
          </a:p>
          <a:p>
            <a:pPr eaLnBrk="0" fontAlgn="base" hangingPunct="0">
              <a:spcBef>
                <a:spcPct val="0"/>
              </a:spcBef>
              <a:spcAft>
                <a:spcPct val="0"/>
              </a:spcAft>
              <a:buClrTx/>
            </a:pPr>
            <a:endParaRPr lang="en-US" sz="1800" dirty="0">
              <a:latin typeface="Verdana" panose="020B0604030504040204" pitchFamily="34" charset="0"/>
              <a:ea typeface="Verdana" panose="020B0604030504040204" pitchFamily="34" charset="0"/>
            </a:endParaRPr>
          </a:p>
          <a:p>
            <a:pPr marL="285750" indent="-285750" eaLnBrk="0" fontAlgn="base" hangingPunct="0">
              <a:spcBef>
                <a:spcPct val="0"/>
              </a:spcBef>
              <a:spcAft>
                <a:spcPct val="0"/>
              </a:spcAft>
              <a:buClrTx/>
              <a:buFont typeface="Arial" panose="020B0604020202020204" pitchFamily="34" charset="0"/>
              <a:buChar char="•"/>
            </a:pPr>
            <a:r>
              <a:rPr lang="en-US" sz="1800" dirty="0" smtClean="0">
                <a:latin typeface="Times New Roman" pitchFamily="18" charset="0"/>
                <a:cs typeface="Times New Roman" pitchFamily="18" charset="0"/>
              </a:rPr>
              <a:t>To </a:t>
            </a:r>
            <a:r>
              <a:rPr lang="en-US" sz="1800" dirty="0">
                <a:latin typeface="Times New Roman" pitchFamily="18" charset="0"/>
                <a:cs typeface="Times New Roman" pitchFamily="18" charset="0"/>
              </a:rPr>
              <a:t>design an AI-based tool capable of preliminary diagnosis of dermatological manifestations</a:t>
            </a:r>
            <a:r>
              <a:rPr lang="en-US" sz="1800" dirty="0" smtClean="0">
                <a:latin typeface="Times New Roman" pitchFamily="18" charset="0"/>
                <a:cs typeface="Times New Roman" pitchFamily="18" charset="0"/>
              </a:rPr>
              <a:t>.</a:t>
            </a:r>
          </a:p>
          <a:p>
            <a:pPr marL="285750" indent="-285750" eaLnBrk="0" fontAlgn="base" hangingPunct="0">
              <a:spcBef>
                <a:spcPct val="0"/>
              </a:spcBef>
              <a:spcAft>
                <a:spcPct val="0"/>
              </a:spcAft>
              <a:buClrTx/>
              <a:buFont typeface="Arial" panose="020B0604020202020204" pitchFamily="34" charset="0"/>
              <a:buChar char="•"/>
            </a:pPr>
            <a:r>
              <a:rPr lang="en-US" sz="1800" dirty="0">
                <a:latin typeface="Times New Roman" pitchFamily="18" charset="0"/>
                <a:cs typeface="Times New Roman" pitchFamily="18" charset="0"/>
              </a:rPr>
              <a:t>To integrate multimodal inputs such as images, metadata, and clinical descriptions for improved accuracy</a:t>
            </a:r>
            <a:r>
              <a:rPr lang="en-US" sz="1800" dirty="0" smtClean="0">
                <a:latin typeface="Times New Roman" pitchFamily="18" charset="0"/>
                <a:cs typeface="Times New Roman" pitchFamily="18" charset="0"/>
              </a:rPr>
              <a:t>.</a:t>
            </a:r>
          </a:p>
          <a:p>
            <a:pPr marL="285750" indent="-285750" eaLnBrk="0" fontAlgn="base" hangingPunct="0">
              <a:spcBef>
                <a:spcPct val="0"/>
              </a:spcBef>
              <a:spcAft>
                <a:spcPct val="0"/>
              </a:spcAft>
              <a:buClrTx/>
              <a:buFont typeface="Arial" panose="020B0604020202020204" pitchFamily="34" charset="0"/>
              <a:buChar char="•"/>
            </a:pPr>
            <a:r>
              <a:rPr lang="en-US" sz="1800" dirty="0">
                <a:latin typeface="Times New Roman" pitchFamily="18" charset="0"/>
                <a:cs typeface="Times New Roman" pitchFamily="18" charset="0"/>
              </a:rPr>
              <a:t>To implement explainable AI methods for transparency and trust</a:t>
            </a:r>
            <a:r>
              <a:rPr lang="en-US" sz="1800" dirty="0" smtClean="0">
                <a:latin typeface="Times New Roman" pitchFamily="18" charset="0"/>
                <a:cs typeface="Times New Roman" pitchFamily="18" charset="0"/>
              </a:rPr>
              <a:t>.</a:t>
            </a:r>
          </a:p>
          <a:p>
            <a:pPr marL="285750" indent="-285750" eaLnBrk="0" fontAlgn="base" hangingPunct="0">
              <a:spcBef>
                <a:spcPct val="0"/>
              </a:spcBef>
              <a:spcAft>
                <a:spcPct val="0"/>
              </a:spcAft>
              <a:buClrTx/>
              <a:buFont typeface="Arial" panose="020B0604020202020204" pitchFamily="34" charset="0"/>
              <a:buChar char="•"/>
            </a:pPr>
            <a:r>
              <a:rPr lang="en-US" sz="1800" dirty="0">
                <a:latin typeface="Times New Roman" pitchFamily="18" charset="0"/>
                <a:cs typeface="Times New Roman" pitchFamily="18" charset="0"/>
              </a:rPr>
              <a:t>To address dataset bias and fairness by incorporating diverse datasets</a:t>
            </a:r>
            <a:r>
              <a:rPr lang="en-US" sz="1800" dirty="0" smtClean="0">
                <a:latin typeface="Times New Roman" pitchFamily="18" charset="0"/>
                <a:cs typeface="Times New Roman" pitchFamily="18" charset="0"/>
              </a:rPr>
              <a:t>.</a:t>
            </a:r>
          </a:p>
          <a:p>
            <a:pPr marL="285750" indent="-285750" eaLnBrk="0" fontAlgn="base" hangingPunct="0">
              <a:spcBef>
                <a:spcPct val="0"/>
              </a:spcBef>
              <a:spcAft>
                <a:spcPct val="0"/>
              </a:spcAft>
              <a:buClrTx/>
              <a:buFont typeface="Arial" panose="020B0604020202020204" pitchFamily="34" charset="0"/>
              <a:buChar char="•"/>
            </a:pPr>
            <a:r>
              <a:rPr lang="en-US" sz="1800" dirty="0">
                <a:latin typeface="Times New Roman" pitchFamily="18" charset="0"/>
                <a:cs typeface="Times New Roman" pitchFamily="18" charset="0"/>
              </a:rPr>
              <a:t>To explore </a:t>
            </a:r>
            <a:r>
              <a:rPr lang="en-US" sz="1800" dirty="0" smtClean="0">
                <a:latin typeface="Times New Roman" pitchFamily="18" charset="0"/>
                <a:cs typeface="Times New Roman" pitchFamily="18" charset="0"/>
              </a:rPr>
              <a:t>mobile/</a:t>
            </a:r>
            <a:r>
              <a:rPr lang="en-US" sz="1800" dirty="0" err="1" smtClean="0">
                <a:latin typeface="Times New Roman" pitchFamily="18" charset="0"/>
                <a:cs typeface="Times New Roman" pitchFamily="18" charset="0"/>
              </a:rPr>
              <a:t>tele</a:t>
            </a:r>
            <a:r>
              <a:rPr lang="en-US" sz="1800" dirty="0" smtClean="0">
                <a:latin typeface="Times New Roman" pitchFamily="18" charset="0"/>
                <a:cs typeface="Times New Roman" pitchFamily="18" charset="0"/>
              </a:rPr>
              <a:t>-dermatology </a:t>
            </a:r>
            <a:r>
              <a:rPr lang="en-US" sz="1800" dirty="0">
                <a:latin typeface="Times New Roman" pitchFamily="18" charset="0"/>
                <a:cs typeface="Times New Roman" pitchFamily="18" charset="0"/>
              </a:rPr>
              <a:t>deployment for accessibility in resource-limited regions</a:t>
            </a:r>
            <a:r>
              <a:rPr lang="en-US" sz="1800" dirty="0" smtClean="0">
                <a:latin typeface="Times New Roman" pitchFamily="18" charset="0"/>
                <a:cs typeface="Times New Roman" pitchFamily="18" charset="0"/>
              </a:rPr>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4" name="Rectangle 3"/>
          <p:cNvSpPr>
            <a:spLocks noChangeArrowheads="1"/>
          </p:cNvSpPr>
          <p:nvPr/>
        </p:nvSpPr>
        <p:spPr bwMode="auto">
          <a:xfrm>
            <a:off x="369277" y="4401435"/>
            <a:ext cx="114534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eaLnBrk="0" fontAlgn="base" hangingPunct="0">
              <a:spcBef>
                <a:spcPct val="0"/>
              </a:spcBef>
              <a:spcAft>
                <a:spcPct val="0"/>
              </a:spcAft>
              <a:buClrTx/>
            </a:pPr>
            <a:r>
              <a:rPr kumimoji="0" lang="en-US" altLang="en-US" sz="1800" b="0" i="0" u="none" strike="noStrike" cap="none" normalizeH="0" baseline="0" dirty="0" smtClean="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Existing Methods and Drawbacks</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
        <p:nvSpPr>
          <p:cNvPr id="5" name="Google Shape;115;p17"/>
          <p:cNvSpPr txBox="1"/>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
        <p:nvSpPr>
          <p:cNvPr id="6" name="Google Shape;115;p17"/>
          <p:cNvSpPr txBox="1"/>
          <p:nvPr/>
        </p:nvSpPr>
        <p:spPr>
          <a:xfrm>
            <a:off x="812800" y="1544790"/>
            <a:ext cx="108204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438150" indent="-285750" algn="just">
              <a:lnSpc>
                <a:spcPct val="150000"/>
              </a:lnSpc>
              <a:spcBef>
                <a:spcPts val="0"/>
              </a:spcBef>
              <a:buSzPct val="100000"/>
              <a:buFont typeface="Arial" pitchFamily="34" charset="0"/>
              <a:buChar char="•"/>
            </a:pPr>
            <a:r>
              <a:rPr lang="en-US" sz="1800" dirty="0">
                <a:latin typeface="Times New Roman" pitchFamily="18" charset="0"/>
                <a:cs typeface="Times New Roman" pitchFamily="18" charset="0"/>
              </a:rPr>
              <a:t>Image-only CNNs often fail to generalize across diverse skin tones and rare diseases</a:t>
            </a:r>
            <a:r>
              <a:rPr lang="en-US" sz="1800" dirty="0" smtClean="0">
                <a:latin typeface="Times New Roman" pitchFamily="18" charset="0"/>
                <a:cs typeface="Times New Roman" pitchFamily="18" charset="0"/>
              </a:rPr>
              <a:t>.</a:t>
            </a:r>
          </a:p>
          <a:p>
            <a:pPr marL="438150" indent="-285750" algn="just">
              <a:lnSpc>
                <a:spcPct val="150000"/>
              </a:lnSpc>
              <a:spcBef>
                <a:spcPts val="0"/>
              </a:spcBef>
              <a:buSzPct val="100000"/>
              <a:buFont typeface="Arial" pitchFamily="34" charset="0"/>
              <a:buChar char="•"/>
            </a:pPr>
            <a:r>
              <a:rPr lang="en-US" sz="1800" dirty="0" smtClean="0">
                <a:latin typeface="Times New Roman" pitchFamily="18" charset="0"/>
                <a:cs typeface="Times New Roman" pitchFamily="18" charset="0"/>
              </a:rPr>
              <a:t>Lack of </a:t>
            </a:r>
            <a:r>
              <a:rPr lang="en-US" sz="1800" dirty="0" err="1" smtClean="0">
                <a:latin typeface="Times New Roman" pitchFamily="18" charset="0"/>
                <a:cs typeface="Times New Roman" pitchFamily="18" charset="0"/>
              </a:rPr>
              <a:t>explainability</a:t>
            </a:r>
            <a:r>
              <a:rPr lang="en-US" sz="1800" dirty="0" smtClean="0">
                <a:latin typeface="Times New Roman" pitchFamily="18" charset="0"/>
                <a:cs typeface="Times New Roman" pitchFamily="18" charset="0"/>
              </a:rPr>
              <a:t> reduces clinician trust in AI predictions.</a:t>
            </a:r>
          </a:p>
          <a:p>
            <a:pPr marL="438150" indent="-285750" algn="just">
              <a:lnSpc>
                <a:spcPct val="150000"/>
              </a:lnSpc>
              <a:spcBef>
                <a:spcPts val="0"/>
              </a:spcBef>
              <a:buSzPct val="100000"/>
              <a:buFont typeface="Arial" pitchFamily="34" charset="0"/>
              <a:buChar char="•"/>
            </a:pPr>
            <a:r>
              <a:rPr lang="en-US" sz="1800" dirty="0" smtClean="0">
                <a:latin typeface="Times New Roman" pitchFamily="18" charset="0"/>
                <a:cs typeface="Times New Roman" pitchFamily="18" charset="0"/>
              </a:rPr>
              <a:t>Many </a:t>
            </a:r>
            <a:r>
              <a:rPr lang="en-US" sz="1800" dirty="0">
                <a:latin typeface="Times New Roman" pitchFamily="18" charset="0"/>
                <a:cs typeface="Times New Roman" pitchFamily="18" charset="0"/>
              </a:rPr>
              <a:t>tools are evaluated only on benchmark datasets without clinical validation.</a:t>
            </a:r>
            <a:r>
              <a:rPr lang="en-US" sz="1800" dirty="0" smtClean="0">
                <a:latin typeface="Times New Roman" pitchFamily="18" charset="0"/>
                <a:cs typeface="Times New Roman" pitchFamily="18" charset="0"/>
              </a:rPr>
              <a:t>  </a:t>
            </a:r>
          </a:p>
          <a:p>
            <a:pPr marL="438150" indent="-285750" algn="just">
              <a:lnSpc>
                <a:spcPct val="150000"/>
              </a:lnSpc>
              <a:spcBef>
                <a:spcPts val="0"/>
              </a:spcBef>
              <a:buSzPct val="100000"/>
              <a:buFont typeface="Arial" pitchFamily="34" charset="0"/>
              <a:buChar char="•"/>
            </a:pPr>
            <a:r>
              <a:rPr lang="en-US" sz="1800" dirty="0">
                <a:latin typeface="Times New Roman" pitchFamily="18" charset="0"/>
                <a:cs typeface="Times New Roman" pitchFamily="18" charset="0"/>
              </a:rPr>
              <a:t>Fairness issues exist due to dataset imbalance toward lighter skin </a:t>
            </a:r>
            <a:r>
              <a:rPr lang="en-US" sz="1800" dirty="0" smtClean="0">
                <a:latin typeface="Times New Roman" pitchFamily="18" charset="0"/>
                <a:cs typeface="Times New Roman" pitchFamily="18" charset="0"/>
              </a:rPr>
              <a:t>tones.</a:t>
            </a:r>
          </a:p>
          <a:p>
            <a:pPr marL="438150" indent="-285750" algn="just">
              <a:lnSpc>
                <a:spcPct val="150000"/>
              </a:lnSpc>
              <a:spcBef>
                <a:spcPts val="0"/>
              </a:spcBef>
              <a:buSzPct val="100000"/>
              <a:buFont typeface="Arial" pitchFamily="34" charset="0"/>
              <a:buChar char="•"/>
            </a:pPr>
            <a:r>
              <a:rPr lang="en-US" sz="1800" dirty="0" smtClean="0">
                <a:latin typeface="Times New Roman" pitchFamily="18" charset="0"/>
                <a:cs typeface="Times New Roman" pitchFamily="18" charset="0"/>
              </a:rPr>
              <a:t>Existing </a:t>
            </a:r>
            <a:r>
              <a:rPr lang="en-US" sz="1800" dirty="0">
                <a:latin typeface="Times New Roman" pitchFamily="18" charset="0"/>
                <a:cs typeface="Times New Roman" pitchFamily="18" charset="0"/>
              </a:rPr>
              <a:t>commercial tools provide reasonable accuracy but lack transparency and broad validation.</a:t>
            </a:r>
          </a:p>
          <a:p>
            <a:pPr marL="438150" indent="-285750" algn="just">
              <a:lnSpc>
                <a:spcPct val="150000"/>
              </a:lnSpc>
              <a:spcBef>
                <a:spcPts val="0"/>
              </a:spcBef>
              <a:buSzPct val="100000"/>
              <a:buFont typeface="Arial" pitchFamily="34" charset="0"/>
              <a:buChar char="•"/>
            </a:pPr>
            <a:endParaRPr lang="en-US" sz="1800" dirty="0" smtClean="0">
              <a:latin typeface="Times New Roman" pitchFamily="18" charset="0"/>
              <a:cs typeface="Times New Roman" pitchFamily="18" charset="0"/>
            </a:endParaRPr>
          </a:p>
          <a:p>
            <a:pPr marL="438150" indent="-285750" algn="just">
              <a:lnSpc>
                <a:spcPct val="150000"/>
              </a:lnSpc>
              <a:spcBef>
                <a:spcPts val="0"/>
              </a:spcBef>
              <a:buSzPct val="100000"/>
              <a:buFont typeface="Arial" pitchFamily="34" charset="0"/>
              <a:buChar char="•"/>
            </a:pPr>
            <a:endParaRPr lang="en-US" sz="1800" dirty="0" smtClean="0">
              <a:latin typeface="Times New Roman" pitchFamily="18" charset="0"/>
              <a:cs typeface="Times New Roman" pitchFamily="18" charset="0"/>
            </a:endParaRPr>
          </a:p>
          <a:p>
            <a:pPr marL="152400" indent="0" algn="just">
              <a:lnSpc>
                <a:spcPct val="150000"/>
              </a:lnSpc>
              <a:spcBef>
                <a:spcPts val="0"/>
              </a:spcBef>
              <a:buSzPct val="100000"/>
              <a:buNone/>
            </a:pPr>
            <a:r>
              <a:rPr lang="en-US" sz="1800" dirty="0" smtClean="0">
                <a:latin typeface="Times New Roman" pitchFamily="18" charset="0"/>
                <a:cs typeface="Times New Roman" pitchFamily="18" charset="0"/>
              </a:rPr>
              <a:t/>
            </a:r>
            <a:br>
              <a:rPr lang="en-US" sz="1800" dirty="0" smtClean="0">
                <a:latin typeface="Times New Roman" pitchFamily="18" charset="0"/>
                <a:cs typeface="Times New Roman" pitchFamily="18" charset="0"/>
              </a:rPr>
            </a:br>
            <a:endParaRPr lang="en-US" sz="1800" dirty="0">
              <a:latin typeface="Times New Roman" pitchFamily="18" charset="0"/>
              <a:ea typeface="Cambria" panose="02040503050406030204" pitchFamily="18" charset="0"/>
              <a:cs typeface="Times New Roman" pitchFamily="18" charset="0"/>
            </a:endParaRPr>
          </a:p>
        </p:txBody>
      </p:sp>
    </p:spTree>
    <p:extLst>
      <p:ext uri="{BB962C8B-B14F-4D97-AF65-F5344CB8AC3E}">
        <p14:creationId xmlns:p14="http://schemas.microsoft.com/office/powerpoint/2010/main" val="3614487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Proposed Method and Feasibility </a:t>
            </a:r>
            <a:r>
              <a:rPr lang="en-US" dirty="0" smtClean="0">
                <a:latin typeface="Cambria" panose="02040503050406030204" pitchFamily="18" charset="0"/>
                <a:ea typeface="Cambria" panose="02040503050406030204" pitchFamily="18" charset="0"/>
              </a:rPr>
              <a:t>Study</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
        <p:nvSpPr>
          <p:cNvPr id="5" name="Google Shape;115;p17"/>
          <p:cNvSpPr txBox="1"/>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
        <p:nvSpPr>
          <p:cNvPr id="6" name="Google Shape;115;p17"/>
          <p:cNvSpPr txBox="1"/>
          <p:nvPr/>
        </p:nvSpPr>
        <p:spPr>
          <a:xfrm>
            <a:off x="812800" y="1295400"/>
            <a:ext cx="108204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lnSpc>
                <a:spcPct val="150000"/>
              </a:lnSpc>
              <a:spcBef>
                <a:spcPts val="0"/>
              </a:spcBef>
              <a:buSzPct val="100000"/>
              <a:buNone/>
            </a:pPr>
            <a:r>
              <a:rPr lang="en-US" dirty="0" smtClean="0"/>
              <a:t>  </a:t>
            </a:r>
            <a:r>
              <a:rPr lang="en-US" sz="2100" dirty="0" smtClean="0">
                <a:latin typeface="Times New Roman" pitchFamily="18" charset="0"/>
                <a:cs typeface="Times New Roman" pitchFamily="18" charset="0"/>
              </a:rPr>
              <a:t>We </a:t>
            </a:r>
            <a:r>
              <a:rPr lang="en-US" sz="2100" dirty="0">
                <a:latin typeface="Times New Roman" pitchFamily="18" charset="0"/>
                <a:cs typeface="Times New Roman" pitchFamily="18" charset="0"/>
              </a:rPr>
              <a:t>propose a hybrid multimodal AI framework combining </a:t>
            </a:r>
            <a:r>
              <a:rPr lang="en-US" sz="2100" dirty="0" err="1">
                <a:latin typeface="Times New Roman" pitchFamily="18" charset="0"/>
                <a:cs typeface="Times New Roman" pitchFamily="18" charset="0"/>
              </a:rPr>
              <a:t>dermoscopic</a:t>
            </a:r>
            <a:r>
              <a:rPr lang="en-US" sz="2100" dirty="0">
                <a:latin typeface="Times New Roman" pitchFamily="18" charset="0"/>
                <a:cs typeface="Times New Roman" pitchFamily="18" charset="0"/>
              </a:rPr>
              <a:t> images, patient metadata, and clinical text. The architecture uses a CNN-Transformer hybrid backbone for feature extraction, fused with metadata through cross-attention layers. </a:t>
            </a:r>
            <a:r>
              <a:rPr lang="en-US" sz="2100" dirty="0" err="1">
                <a:latin typeface="Times New Roman" pitchFamily="18" charset="0"/>
                <a:cs typeface="Times New Roman" pitchFamily="18" charset="0"/>
              </a:rPr>
              <a:t>Explainability</a:t>
            </a:r>
            <a:r>
              <a:rPr lang="en-US" sz="2100" dirty="0">
                <a:latin typeface="Times New Roman" pitchFamily="18" charset="0"/>
                <a:cs typeface="Times New Roman" pitchFamily="18" charset="0"/>
              </a:rPr>
              <a:t> is achieved using Grad-CAM visualizations and concept-based reasoning. The feasibility study involves training on HAM10000, ISIC archives, and Fitzpatrick17k datasets. Performance will be benchmarked against dermatologists’ accuracy, with additional evaluation of fairness across skin tones and calibration for triage decisions.</a:t>
            </a: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4202693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nSpc>
                <a:spcPct val="200000"/>
              </a:lnSpc>
            </a:pPr>
            <a:r>
              <a:rPr lang="en-US" dirty="0">
                <a:latin typeface="Cambria" panose="02040503050406030204" pitchFamily="18" charset="0"/>
                <a:ea typeface="Cambria" panose="02040503050406030204" pitchFamily="18" charset="0"/>
              </a:rPr>
              <a:t>Architecture </a:t>
            </a:r>
            <a:r>
              <a:rPr lang="en-US" dirty="0" smtClean="0">
                <a:latin typeface="Cambria" panose="02040503050406030204" pitchFamily="18" charset="0"/>
                <a:ea typeface="Cambria" panose="02040503050406030204" pitchFamily="18" charset="0"/>
              </a:rPr>
              <a:t>Diagram</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ctr"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ctr"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ctr"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ctr"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ctr"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
        <p:nvSpPr>
          <p:cNvPr id="5" name="Google Shape;115;p17"/>
          <p:cNvSpPr txBox="1"/>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
        <p:nvSpPr>
          <p:cNvPr id="6" name="Google Shape;115;p17"/>
          <p:cNvSpPr txBox="1"/>
          <p:nvPr/>
        </p:nvSpPr>
        <p:spPr>
          <a:xfrm>
            <a:off x="965200" y="12954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7127" y="1143000"/>
            <a:ext cx="7647709" cy="4804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066824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83920" y="274499"/>
            <a:ext cx="10668000" cy="487500"/>
          </a:xfrm>
          <a:prstGeom prst="rect">
            <a:avLst/>
          </a:prstGeom>
          <a:noFill/>
          <a:ln>
            <a:noFill/>
          </a:ln>
        </p:spPr>
        <p:txBody>
          <a:bodyPr spcFirstLastPara="1" wrap="square" lIns="91425" tIns="45700" rIns="91425" bIns="45700" anchor="ctr" anchorCtr="0">
            <a:noAutofit/>
          </a:bodyPr>
          <a:lstStyle/>
          <a:p>
            <a:r>
              <a:rPr lang="en-US" dirty="0" smtClean="0"/>
              <a:t>Modules</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323116"/>
            <a:ext cx="10668000" cy="4953000"/>
          </a:xfrm>
          <a:prstGeom prst="rect">
            <a:avLst/>
          </a:prstGeom>
          <a:noFill/>
          <a:ln>
            <a:noFill/>
          </a:ln>
        </p:spPr>
        <p:txBody>
          <a:bodyPr spcFirstLastPara="1" wrap="square" lIns="91425" tIns="45700" rIns="91425" bIns="45700" anchor="t" anchorCtr="0">
            <a:normAutofit/>
          </a:bodyPr>
          <a:lstStyle/>
          <a:p>
            <a:pPr marL="152400" indent="0">
              <a:spcBef>
                <a:spcPts val="0"/>
              </a:spcBef>
              <a:buNone/>
            </a:pPr>
            <a:r>
              <a:rPr lang="en-US" sz="1800" dirty="0">
                <a:latin typeface="Times New Roman" pitchFamily="18" charset="0"/>
                <a:cs typeface="Times New Roman" pitchFamily="18" charset="0"/>
              </a:rPr>
              <a:t>The system is divided into the following </a:t>
            </a:r>
            <a:r>
              <a:rPr lang="en-US" sz="1800" dirty="0" smtClean="0">
                <a:latin typeface="Times New Roman" pitchFamily="18" charset="0"/>
                <a:cs typeface="Times New Roman" pitchFamily="18" charset="0"/>
              </a:rPr>
              <a:t>modules :</a:t>
            </a:r>
          </a:p>
          <a:p>
            <a:pPr marL="152400" indent="0">
              <a:spcBef>
                <a:spcPts val="0"/>
              </a:spcBef>
              <a:buNone/>
            </a:pP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a:t>
            </a:r>
            <a:r>
              <a:rPr lang="en-US" sz="1800" dirty="0" smtClean="0">
                <a:latin typeface="Times New Roman" pitchFamily="18" charset="0"/>
                <a:cs typeface="Times New Roman" pitchFamily="18" charset="0"/>
              </a:rPr>
              <a:t> </a:t>
            </a:r>
            <a:r>
              <a:rPr lang="en-US" sz="1800" dirty="0">
                <a:latin typeface="Times New Roman" pitchFamily="18" charset="0"/>
                <a:cs typeface="Times New Roman" pitchFamily="18" charset="0"/>
              </a:rPr>
              <a:t>Data Collection and Preprocessing Module</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a:t>
            </a:r>
            <a:r>
              <a:rPr lang="en-US" sz="1800" dirty="0" smtClean="0">
                <a:latin typeface="Times New Roman" pitchFamily="18" charset="0"/>
                <a:cs typeface="Times New Roman" pitchFamily="18" charset="0"/>
              </a:rPr>
              <a:t> </a:t>
            </a:r>
            <a:r>
              <a:rPr lang="en-US" sz="1800" dirty="0">
                <a:latin typeface="Times New Roman" pitchFamily="18" charset="0"/>
                <a:cs typeface="Times New Roman" pitchFamily="18" charset="0"/>
              </a:rPr>
              <a:t>Feature Extraction Module</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a:t>
            </a:r>
            <a:r>
              <a:rPr lang="en-US" sz="1800" dirty="0" smtClean="0">
                <a:latin typeface="Times New Roman" pitchFamily="18" charset="0"/>
                <a:cs typeface="Times New Roman" pitchFamily="18" charset="0"/>
              </a:rPr>
              <a:t> </a:t>
            </a:r>
            <a:r>
              <a:rPr lang="en-US" sz="1800" dirty="0">
                <a:latin typeface="Times New Roman" pitchFamily="18" charset="0"/>
                <a:cs typeface="Times New Roman" pitchFamily="18" charset="0"/>
              </a:rPr>
              <a:t>Multimodal Fusion Module</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a:t>
            </a:r>
            <a:r>
              <a:rPr lang="en-US" sz="1800" dirty="0" smtClean="0">
                <a:latin typeface="Times New Roman" pitchFamily="18" charset="0"/>
                <a:cs typeface="Times New Roman" pitchFamily="18" charset="0"/>
              </a:rPr>
              <a:t> </a:t>
            </a:r>
            <a:r>
              <a:rPr lang="en-US" sz="1800" dirty="0" err="1">
                <a:latin typeface="Times New Roman" pitchFamily="18" charset="0"/>
                <a:cs typeface="Times New Roman" pitchFamily="18" charset="0"/>
              </a:rPr>
              <a:t>Explainability</a:t>
            </a:r>
            <a:r>
              <a:rPr lang="en-US" sz="1800" dirty="0">
                <a:latin typeface="Times New Roman" pitchFamily="18" charset="0"/>
                <a:cs typeface="Times New Roman" pitchFamily="18" charset="0"/>
              </a:rPr>
              <a:t> and Visualization Module</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a:t>
            </a:r>
            <a:r>
              <a:rPr lang="en-US" sz="1800" dirty="0" smtClean="0">
                <a:latin typeface="Times New Roman" pitchFamily="18" charset="0"/>
                <a:cs typeface="Times New Roman" pitchFamily="18" charset="0"/>
              </a:rPr>
              <a:t> </a:t>
            </a:r>
            <a:r>
              <a:rPr lang="en-US" sz="1800" dirty="0">
                <a:latin typeface="Times New Roman" pitchFamily="18" charset="0"/>
                <a:cs typeface="Times New Roman" pitchFamily="18" charset="0"/>
              </a:rPr>
              <a:t>Diagnosis and Decision Support Module</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a:t>
            </a:r>
            <a:r>
              <a:rPr lang="en-US" sz="1800" dirty="0" smtClean="0">
                <a:latin typeface="Times New Roman" pitchFamily="18" charset="0"/>
                <a:cs typeface="Times New Roman" pitchFamily="18" charset="0"/>
              </a:rPr>
              <a:t> Mobile/Tele-dermatology </a:t>
            </a:r>
            <a:r>
              <a:rPr lang="en-US" sz="1800" dirty="0">
                <a:latin typeface="Times New Roman" pitchFamily="18" charset="0"/>
                <a:cs typeface="Times New Roman" pitchFamily="18" charset="0"/>
              </a:rPr>
              <a:t>Deployment Module</a:t>
            </a:r>
          </a:p>
          <a:p>
            <a:pPr marL="495300" indent="-342900">
              <a:spcBef>
                <a:spcPts val="0"/>
              </a:spcBef>
            </a:pPr>
            <a:endParaRPr lang="en-US" sz="1800" dirty="0">
              <a:latin typeface="Times New Roman" pitchFamily="18" charset="0"/>
              <a:ea typeface="Cambria" panose="02040503050406030204" pitchFamily="18" charset="0"/>
              <a:cs typeface="Times New Roman" pitchFamily="18" charset="0"/>
            </a:endParaRPr>
          </a:p>
        </p:txBody>
      </p:sp>
    </p:spTree>
    <p:extLst>
      <p:ext uri="{BB962C8B-B14F-4D97-AF65-F5344CB8AC3E}">
        <p14:creationId xmlns:p14="http://schemas.microsoft.com/office/powerpoint/2010/main" val="39343790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83920" y="274499"/>
            <a:ext cx="10668000" cy="487500"/>
          </a:xfrm>
          <a:prstGeom prst="rect">
            <a:avLst/>
          </a:prstGeom>
          <a:noFill/>
          <a:ln>
            <a:noFill/>
          </a:ln>
        </p:spPr>
        <p:txBody>
          <a:bodyPr spcFirstLastPara="1" wrap="square" lIns="91425" tIns="45700" rIns="91425" bIns="45700" anchor="ctr" anchorCtr="0">
            <a:noAutofit/>
          </a:bodyPr>
          <a:lstStyle/>
          <a:p>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323116"/>
            <a:ext cx="10668000" cy="4953000"/>
          </a:xfrm>
          <a:prstGeom prst="rect">
            <a:avLst/>
          </a:prstGeom>
          <a:noFill/>
          <a:ln>
            <a:noFill/>
          </a:ln>
        </p:spPr>
        <p:txBody>
          <a:bodyPr spcFirstLastPara="1" wrap="square" lIns="91425" tIns="45700" rIns="91425" bIns="45700" anchor="t" anchorCtr="0">
            <a:normAutofit/>
          </a:bodyPr>
          <a:lstStyle/>
          <a:p>
            <a:pPr marL="495300" indent="-342900">
              <a:spcBef>
                <a:spcPts val="0"/>
              </a:spcBef>
            </a:pPr>
            <a:r>
              <a:rPr lang="en-US" sz="1800" dirty="0">
                <a:latin typeface="Times New Roman" pitchFamily="18" charset="0"/>
                <a:cs typeface="Times New Roman" pitchFamily="18" charset="0"/>
              </a:rPr>
              <a:t>[1] A. </a:t>
            </a:r>
            <a:r>
              <a:rPr lang="en-US" sz="1800" dirty="0" err="1">
                <a:latin typeface="Times New Roman" pitchFamily="18" charset="0"/>
                <a:cs typeface="Times New Roman" pitchFamily="18" charset="0"/>
              </a:rPr>
              <a:t>Esteva</a:t>
            </a:r>
            <a:r>
              <a:rPr lang="en-US" sz="1800" dirty="0">
                <a:latin typeface="Times New Roman" pitchFamily="18" charset="0"/>
                <a:cs typeface="Times New Roman" pitchFamily="18" charset="0"/>
              </a:rPr>
              <a:t> et al., 'Dermatologist-level classification of skin cancer with deep neural networks,' Nature, 2017</a:t>
            </a:r>
            <a:r>
              <a:rPr lang="en-US" sz="1800" dirty="0" smtClean="0">
                <a:latin typeface="Times New Roman" pitchFamily="18" charset="0"/>
                <a:cs typeface="Times New Roman" pitchFamily="18" charset="0"/>
              </a:rPr>
              <a:t>.</a:t>
            </a:r>
          </a:p>
          <a:p>
            <a:pPr marL="495300" indent="-342900">
              <a:spcBef>
                <a:spcPts val="0"/>
              </a:spcBef>
            </a:pPr>
            <a:r>
              <a:rPr lang="en-US" sz="1800" dirty="0">
                <a:latin typeface="Times New Roman" pitchFamily="18" charset="0"/>
                <a:cs typeface="Times New Roman" pitchFamily="18" charset="0"/>
              </a:rPr>
              <a:t>[2] R. </a:t>
            </a:r>
            <a:r>
              <a:rPr lang="en-US" sz="1800" dirty="0" err="1">
                <a:latin typeface="Times New Roman" pitchFamily="18" charset="0"/>
                <a:cs typeface="Times New Roman" pitchFamily="18" charset="0"/>
              </a:rPr>
              <a:t>Jalaboi</a:t>
            </a:r>
            <a:r>
              <a:rPr lang="en-US" sz="1800" dirty="0">
                <a:latin typeface="Times New Roman" pitchFamily="18" charset="0"/>
                <a:cs typeface="Times New Roman" pitchFamily="18" charset="0"/>
              </a:rPr>
              <a:t> et al., '</a:t>
            </a:r>
            <a:r>
              <a:rPr lang="en-US" sz="1800" dirty="0" err="1">
                <a:latin typeface="Times New Roman" pitchFamily="18" charset="0"/>
                <a:cs typeface="Times New Roman" pitchFamily="18" charset="0"/>
              </a:rPr>
              <a:t>DermX</a:t>
            </a:r>
            <a:r>
              <a:rPr lang="en-US" sz="1800" dirty="0">
                <a:latin typeface="Times New Roman" pitchFamily="18" charset="0"/>
                <a:cs typeface="Times New Roman" pitchFamily="18" charset="0"/>
              </a:rPr>
              <a:t> and </a:t>
            </a:r>
            <a:r>
              <a:rPr lang="en-US" sz="1800" dirty="0" err="1">
                <a:latin typeface="Times New Roman" pitchFamily="18" charset="0"/>
                <a:cs typeface="Times New Roman" pitchFamily="18" charset="0"/>
              </a:rPr>
              <a:t>DermX</a:t>
            </a:r>
            <a:r>
              <a:rPr lang="en-US" sz="1800" dirty="0">
                <a:latin typeface="Times New Roman" pitchFamily="18" charset="0"/>
                <a:cs typeface="Times New Roman" pitchFamily="18" charset="0"/>
              </a:rPr>
              <a:t>+: Explainable CNNs for Dermatology,' </a:t>
            </a:r>
            <a:r>
              <a:rPr lang="en-US" sz="1800" dirty="0" err="1">
                <a:latin typeface="Times New Roman" pitchFamily="18" charset="0"/>
                <a:cs typeface="Times New Roman" pitchFamily="18" charset="0"/>
              </a:rPr>
              <a:t>arXiv</a:t>
            </a:r>
            <a:r>
              <a:rPr lang="en-US" sz="1800" dirty="0">
                <a:latin typeface="Times New Roman" pitchFamily="18" charset="0"/>
                <a:cs typeface="Times New Roman" pitchFamily="18" charset="0"/>
              </a:rPr>
              <a:t>, 2022</a:t>
            </a:r>
            <a:r>
              <a:rPr lang="en-US" sz="1800" dirty="0" smtClean="0">
                <a:latin typeface="Times New Roman" pitchFamily="18" charset="0"/>
                <a:cs typeface="Times New Roman" pitchFamily="18" charset="0"/>
              </a:rPr>
              <a:t>.</a:t>
            </a:r>
          </a:p>
          <a:p>
            <a:pPr marL="495300" indent="-342900">
              <a:spcBef>
                <a:spcPts val="0"/>
              </a:spcBef>
            </a:pPr>
            <a:r>
              <a:rPr lang="en-US" sz="1800" dirty="0">
                <a:latin typeface="Times New Roman" pitchFamily="18" charset="0"/>
                <a:cs typeface="Times New Roman" pitchFamily="18" charset="0"/>
              </a:rPr>
              <a:t>[3] J. </a:t>
            </a:r>
            <a:r>
              <a:rPr lang="en-US" sz="1800" dirty="0" err="1">
                <a:latin typeface="Times New Roman" pitchFamily="18" charset="0"/>
                <a:cs typeface="Times New Roman" pitchFamily="18" charset="0"/>
              </a:rPr>
              <a:t>Xu</a:t>
            </a:r>
            <a:r>
              <a:rPr lang="en-US" sz="1800" dirty="0">
                <a:latin typeface="Times New Roman" pitchFamily="18" charset="0"/>
                <a:cs typeface="Times New Roman" pitchFamily="18" charset="0"/>
              </a:rPr>
              <a:t> et al., '</a:t>
            </a:r>
            <a:r>
              <a:rPr lang="en-US" sz="1800" dirty="0" err="1">
                <a:latin typeface="Times New Roman" pitchFamily="18" charset="0"/>
                <a:cs typeface="Times New Roman" pitchFamily="18" charset="0"/>
              </a:rPr>
              <a:t>DermNIO</a:t>
            </a:r>
            <a:r>
              <a:rPr lang="en-US" sz="1800" dirty="0">
                <a:latin typeface="Times New Roman" pitchFamily="18" charset="0"/>
                <a:cs typeface="Times New Roman" pitchFamily="18" charset="0"/>
              </a:rPr>
              <a:t>: A Foundation Model for Dermatology,' </a:t>
            </a:r>
            <a:r>
              <a:rPr lang="en-US" sz="1800" dirty="0" err="1">
                <a:latin typeface="Times New Roman" pitchFamily="18" charset="0"/>
                <a:cs typeface="Times New Roman" pitchFamily="18" charset="0"/>
              </a:rPr>
              <a:t>arXiv</a:t>
            </a:r>
            <a:r>
              <a:rPr lang="en-US" sz="1800" dirty="0">
                <a:latin typeface="Times New Roman" pitchFamily="18" charset="0"/>
                <a:cs typeface="Times New Roman" pitchFamily="18" charset="0"/>
              </a:rPr>
              <a:t>, 2025</a:t>
            </a:r>
            <a:r>
              <a:rPr lang="en-US" sz="1800" dirty="0" smtClean="0">
                <a:latin typeface="Times New Roman" pitchFamily="18" charset="0"/>
                <a:cs typeface="Times New Roman" pitchFamily="18" charset="0"/>
              </a:rPr>
              <a:t>.</a:t>
            </a:r>
          </a:p>
          <a:p>
            <a:pPr marL="495300" indent="-342900">
              <a:spcBef>
                <a:spcPts val="0"/>
              </a:spcBef>
            </a:pPr>
            <a:r>
              <a:rPr lang="en-US" sz="1800" dirty="0">
                <a:latin typeface="Times New Roman" pitchFamily="18" charset="0"/>
                <a:cs typeface="Times New Roman" pitchFamily="18" charset="0"/>
              </a:rPr>
              <a:t>[4] K. Yu et al., 'VL-</a:t>
            </a:r>
            <a:r>
              <a:rPr lang="en-US" sz="1800" dirty="0" err="1">
                <a:latin typeface="Times New Roman" pitchFamily="18" charset="0"/>
                <a:cs typeface="Times New Roman" pitchFamily="18" charset="0"/>
              </a:rPr>
              <a:t>MedGuide</a:t>
            </a:r>
            <a:r>
              <a:rPr lang="en-US" sz="1800" dirty="0">
                <a:latin typeface="Times New Roman" pitchFamily="18" charset="0"/>
                <a:cs typeface="Times New Roman" pitchFamily="18" charset="0"/>
              </a:rPr>
              <a:t>: Vision-Language Diagnosis,' </a:t>
            </a:r>
            <a:r>
              <a:rPr lang="en-US" sz="1800" dirty="0" err="1">
                <a:latin typeface="Times New Roman" pitchFamily="18" charset="0"/>
                <a:cs typeface="Times New Roman" pitchFamily="18" charset="0"/>
              </a:rPr>
              <a:t>arXiv</a:t>
            </a:r>
            <a:r>
              <a:rPr lang="en-US" sz="1800" dirty="0">
                <a:latin typeface="Times New Roman" pitchFamily="18" charset="0"/>
                <a:cs typeface="Times New Roman" pitchFamily="18" charset="0"/>
              </a:rPr>
              <a:t>, 2025</a:t>
            </a:r>
            <a:r>
              <a:rPr lang="en-US" sz="1800" dirty="0" smtClean="0">
                <a:latin typeface="Times New Roman" pitchFamily="18" charset="0"/>
                <a:cs typeface="Times New Roman" pitchFamily="18" charset="0"/>
              </a:rPr>
              <a:t>.</a:t>
            </a:r>
          </a:p>
          <a:p>
            <a:pPr marL="495300" indent="-342900">
              <a:spcBef>
                <a:spcPts val="0"/>
              </a:spcBef>
            </a:pPr>
            <a:r>
              <a:rPr lang="en-US" sz="1800" dirty="0">
                <a:latin typeface="Times New Roman" pitchFamily="18" charset="0"/>
                <a:cs typeface="Times New Roman" pitchFamily="18" charset="0"/>
              </a:rPr>
              <a:t>[5] A. Gupta et al., 'Assessment of </a:t>
            </a:r>
            <a:r>
              <a:rPr lang="en-US" sz="1800" dirty="0" err="1">
                <a:latin typeface="Times New Roman" pitchFamily="18" charset="0"/>
                <a:cs typeface="Times New Roman" pitchFamily="18" charset="0"/>
              </a:rPr>
              <a:t>Tibot</a:t>
            </a:r>
            <a:r>
              <a:rPr lang="en-US" sz="1800" dirty="0">
                <a:latin typeface="Times New Roman" pitchFamily="18" charset="0"/>
                <a:cs typeface="Times New Roman" pitchFamily="18" charset="0"/>
              </a:rPr>
              <a:t>: AI Tool for Skin Diagnosis,' Indian Dermatology Online Journal, 2020</a:t>
            </a:r>
            <a:r>
              <a:rPr lang="en-US" sz="1800" dirty="0" smtClean="0">
                <a:latin typeface="Times New Roman" pitchFamily="18" charset="0"/>
                <a:cs typeface="Times New Roman" pitchFamily="18" charset="0"/>
              </a:rPr>
              <a:t>.</a:t>
            </a:r>
          </a:p>
          <a:p>
            <a:pPr marL="495300" indent="-342900">
              <a:spcBef>
                <a:spcPts val="0"/>
              </a:spcBef>
            </a:pPr>
            <a:r>
              <a:rPr lang="en-US" sz="1800" dirty="0">
                <a:latin typeface="Times New Roman" pitchFamily="18" charset="0"/>
                <a:cs typeface="Times New Roman" pitchFamily="18" charset="0"/>
              </a:rPr>
              <a:t>[6] J. Han et al., 'AI Assistance in </a:t>
            </a:r>
            <a:r>
              <a:rPr lang="en-US" sz="1800" dirty="0" err="1">
                <a:latin typeface="Times New Roman" pitchFamily="18" charset="0"/>
                <a:cs typeface="Times New Roman" pitchFamily="18" charset="0"/>
              </a:rPr>
              <a:t>Teledermatology</a:t>
            </a:r>
            <a:r>
              <a:rPr lang="en-US" sz="1800" dirty="0">
                <a:latin typeface="Times New Roman" pitchFamily="18" charset="0"/>
                <a:cs typeface="Times New Roman" pitchFamily="18" charset="0"/>
              </a:rPr>
              <a:t>,' JAMA Dermatology, 2021</a:t>
            </a:r>
            <a:r>
              <a:rPr lang="en-US" sz="1800" dirty="0" smtClean="0">
                <a:latin typeface="Times New Roman" pitchFamily="18" charset="0"/>
                <a:cs typeface="Times New Roman" pitchFamily="18" charset="0"/>
              </a:rPr>
              <a:t>.</a:t>
            </a:r>
          </a:p>
          <a:p>
            <a:pPr marL="495300" indent="-342900">
              <a:spcBef>
                <a:spcPts val="0"/>
              </a:spcBef>
            </a:pPr>
            <a:r>
              <a:rPr lang="en-US" sz="1800" dirty="0">
                <a:latin typeface="Times New Roman" pitchFamily="18" charset="0"/>
                <a:cs typeface="Times New Roman" pitchFamily="18" charset="0"/>
              </a:rPr>
              <a:t>[7] P. </a:t>
            </a:r>
            <a:r>
              <a:rPr lang="en-US" sz="1800" dirty="0" err="1">
                <a:latin typeface="Times New Roman" pitchFamily="18" charset="0"/>
                <a:cs typeface="Times New Roman" pitchFamily="18" charset="0"/>
              </a:rPr>
              <a:t>Tschandl</a:t>
            </a:r>
            <a:r>
              <a:rPr lang="en-US" sz="1800" dirty="0">
                <a:latin typeface="Times New Roman" pitchFamily="18" charset="0"/>
                <a:cs typeface="Times New Roman" pitchFamily="18" charset="0"/>
              </a:rPr>
              <a:t> et al., 'The HAM10000 dataset: Multi-source </a:t>
            </a:r>
            <a:r>
              <a:rPr lang="en-US" sz="1800" dirty="0" err="1">
                <a:latin typeface="Times New Roman" pitchFamily="18" charset="0"/>
                <a:cs typeface="Times New Roman" pitchFamily="18" charset="0"/>
              </a:rPr>
              <a:t>dermatoscopic</a:t>
            </a:r>
            <a:r>
              <a:rPr lang="en-US" sz="1800" dirty="0">
                <a:latin typeface="Times New Roman" pitchFamily="18" charset="0"/>
                <a:cs typeface="Times New Roman" pitchFamily="18" charset="0"/>
              </a:rPr>
              <a:t> images for AI research,' Scientific </a:t>
            </a:r>
            <a:r>
              <a:rPr lang="en-US" sz="1800" dirty="0" smtClean="0">
                <a:latin typeface="Times New Roman" pitchFamily="18" charset="0"/>
                <a:cs typeface="Times New Roman" pitchFamily="18" charset="0"/>
              </a:rPr>
              <a:t>Data</a:t>
            </a:r>
            <a:r>
              <a:rPr lang="en-US" sz="1800" dirty="0">
                <a:latin typeface="Times New Roman" pitchFamily="18" charset="0"/>
                <a:cs typeface="Times New Roman" pitchFamily="18" charset="0"/>
              </a:rPr>
              <a:t>, 2018</a:t>
            </a:r>
            <a:r>
              <a:rPr lang="en-US" sz="1800" dirty="0" smtClean="0">
                <a:latin typeface="Times New Roman" pitchFamily="18" charset="0"/>
                <a:cs typeface="Times New Roman" pitchFamily="18" charset="0"/>
              </a:rPr>
              <a:t>.</a:t>
            </a:r>
          </a:p>
          <a:p>
            <a:pPr marL="495300" indent="-342900">
              <a:spcBef>
                <a:spcPts val="0"/>
              </a:spcBef>
            </a:pPr>
            <a:r>
              <a:rPr lang="en-US" sz="1800" dirty="0">
                <a:latin typeface="Times New Roman" pitchFamily="18" charset="0"/>
                <a:cs typeface="Times New Roman" pitchFamily="18" charset="0"/>
              </a:rPr>
              <a:t>[8] T. Brinker et al., 'Skin cancer classification and dermatologist-level performance of deep learning,' The Lancet Oncology, 2019</a:t>
            </a:r>
            <a:r>
              <a:rPr lang="en-US" sz="1800" dirty="0" smtClean="0">
                <a:latin typeface="Times New Roman" pitchFamily="18" charset="0"/>
                <a:cs typeface="Times New Roman" pitchFamily="18" charset="0"/>
              </a:rPr>
              <a:t>.</a:t>
            </a:r>
          </a:p>
          <a:p>
            <a:pPr marL="495300" indent="-342900">
              <a:spcBef>
                <a:spcPts val="0"/>
              </a:spcBef>
            </a:pPr>
            <a:r>
              <a:rPr lang="en-US" sz="1800" dirty="0">
                <a:latin typeface="Times New Roman" pitchFamily="18" charset="0"/>
                <a:cs typeface="Times New Roman" pitchFamily="18" charset="0"/>
              </a:rPr>
              <a:t>[9] E. Fujisawa et al., 'Deep-learning based, computer-aided classifier developed with a small dataset of rare skin diseases,' British Journal of Dermatology, 2019</a:t>
            </a:r>
            <a:r>
              <a:rPr lang="en-US" sz="1800" dirty="0" smtClean="0">
                <a:latin typeface="Times New Roman" pitchFamily="18" charset="0"/>
                <a:cs typeface="Times New Roman" pitchFamily="18" charset="0"/>
              </a:rPr>
              <a:t>.</a:t>
            </a:r>
          </a:p>
          <a:p>
            <a:pPr marL="495300" indent="-342900">
              <a:spcBef>
                <a:spcPts val="0"/>
              </a:spcBef>
            </a:pPr>
            <a:r>
              <a:rPr lang="en-US" sz="1800" dirty="0">
                <a:latin typeface="Times New Roman" pitchFamily="18" charset="0"/>
                <a:cs typeface="Times New Roman" pitchFamily="18" charset="0"/>
              </a:rPr>
              <a:t>[10] M. </a:t>
            </a:r>
            <a:r>
              <a:rPr lang="en-US" sz="1800" dirty="0" err="1">
                <a:latin typeface="Times New Roman" pitchFamily="18" charset="0"/>
                <a:cs typeface="Times New Roman" pitchFamily="18" charset="0"/>
              </a:rPr>
              <a:t>Tschandl</a:t>
            </a:r>
            <a:r>
              <a:rPr lang="en-US" sz="1800" dirty="0">
                <a:latin typeface="Times New Roman" pitchFamily="18" charset="0"/>
                <a:cs typeface="Times New Roman" pitchFamily="18" charset="0"/>
              </a:rPr>
              <a:t> et al., 'Expert-level diagnosis of </a:t>
            </a:r>
            <a:r>
              <a:rPr lang="en-US" sz="1800" dirty="0" err="1">
                <a:latin typeface="Times New Roman" pitchFamily="18" charset="0"/>
                <a:cs typeface="Times New Roman" pitchFamily="18" charset="0"/>
              </a:rPr>
              <a:t>nonpigmented</a:t>
            </a:r>
            <a:r>
              <a:rPr lang="en-US" sz="1800" dirty="0">
                <a:latin typeface="Times New Roman" pitchFamily="18" charset="0"/>
                <a:cs typeface="Times New Roman" pitchFamily="18" charset="0"/>
              </a:rPr>
              <a:t> skin cancer by combined convolutional neural networks,' JAMA Dermatology, 2019</a:t>
            </a:r>
            <a:r>
              <a:rPr lang="en-US" sz="1800" dirty="0" smtClean="0">
                <a:latin typeface="Times New Roman" pitchFamily="18" charset="0"/>
                <a:cs typeface="Times New Roman" pitchFamily="18" charset="0"/>
              </a:rPr>
              <a:t>.</a:t>
            </a:r>
            <a:endParaRPr lang="en-US" sz="1800" dirty="0">
              <a:latin typeface="Times New Roman" pitchFamily="18" charset="0"/>
              <a:cs typeface="Times New Roman" pitchFamily="18" charset="0"/>
            </a:endParaRPr>
          </a:p>
        </p:txBody>
      </p:sp>
    </p:spTree>
    <p:extLst>
      <p:ext uri="{BB962C8B-B14F-4D97-AF65-F5344CB8AC3E}">
        <p14:creationId xmlns:p14="http://schemas.microsoft.com/office/powerpoint/2010/main" val="559738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439</TotalTime>
  <Words>736</Words>
  <Application>Microsoft Office PowerPoint</Application>
  <PresentationFormat>Custom</PresentationFormat>
  <Paragraphs>97</Paragraphs>
  <Slides>11</Slides>
  <Notes>10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Bioinformatics</vt:lpstr>
      <vt:lpstr>AI-Based tool for preliminary diagnosis of Dermatological      manifestations.</vt:lpstr>
      <vt:lpstr>Content</vt:lpstr>
      <vt:lpstr>Problem Statement Number  :  PSCS_49</vt:lpstr>
      <vt:lpstr>Content</vt:lpstr>
      <vt:lpstr>Content </vt:lpstr>
      <vt:lpstr>Existing Methods and Drawbacks</vt:lpstr>
      <vt:lpstr>Proposed Method and Feasibility Study</vt:lpstr>
      <vt:lpstr>Architecture Diagram</vt:lpstr>
      <vt:lpstr>Modules</vt:lpstr>
      <vt:lpstr>References (IEEE Paper format)</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Windows User</cp:lastModifiedBy>
  <cp:revision>69</cp:revision>
  <dcterms:created xsi:type="dcterms:W3CDTF">2025-08-20T06:55:37Z</dcterms:created>
  <dcterms:modified xsi:type="dcterms:W3CDTF">2025-09-08T14:21:19Z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23D123F282754343B9B3B56C02B53F5C_13</vt:lpwstr>
  </property>
  <property fmtid="{D5CDD505-2E9C-101B-9397-08002B2CF9AE}" pid="3" name="KSOProductBuildVer">
    <vt:lpwstr>1033-12.2.0.21931</vt:lpwstr>
  </property>
</Properties>
</file>